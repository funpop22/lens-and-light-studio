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638544"/>
          </a:xfrm>
          <a:prstGeom prst="rect">
            <a:avLst/>
          </a:prstGeom>
          <a:solidFill>
            <a:srgbClr val="11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solidFill>
            <a:srgbClr val="11111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C9A84C"/>
                </a:solidFill>
                <a:latin typeface="Calibri" panose="020F0502020204030204"/>
              </a:rPr>
              <a:t>📸</a:t>
            </a:r>
            <a:endParaRPr sz="4000" b="0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C97A"/>
                </a:solidFill>
                <a:latin typeface="Calibri Light" panose="020F0302020204030204"/>
              </a:rPr>
              <a:t>LENS &amp; LIGHT STUDIO</a:t>
            </a:r>
            <a:endParaRPr sz="44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6012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EDE8"/>
                </a:solidFill>
                <a:latin typeface="Calibri" panose="020F0502020204030204"/>
              </a:rPr>
              <a:t>Full-Stack Photography Business Web</a:t>
            </a:r>
            <a:r>
              <a:rPr lang="en-US" sz="2000" b="0">
                <a:solidFill>
                  <a:srgbClr val="F0EDE8"/>
                </a:solidFill>
                <a:latin typeface="Calibri" panose="020F0502020204030204"/>
              </a:rPr>
              <a:t>site</a:t>
            </a:r>
            <a:endParaRPr lang="en-US" sz="20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0" y="3108960"/>
            <a:ext cx="39593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46120"/>
            <a:ext cx="9601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Submitted by: Rohit</a:t>
            </a:r>
            <a:r>
              <a:rPr lang="en-US" sz="1400" b="0">
                <a:solidFill>
                  <a:srgbClr val="9B9592"/>
                </a:solidFill>
                <a:latin typeface="Calibri" panose="020F0502020204030204"/>
              </a:rPr>
              <a:t> Kumar</a:t>
            </a:r>
            <a:endParaRPr lang="en-US"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3547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Academic Year: 2025–2026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382219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Dept. of Computer Science &amp; Engineering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37360" y="4572000"/>
            <a:ext cx="1234440" cy="347472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Python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0" y="4572000"/>
            <a:ext cx="1234440" cy="347472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Flask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63440" y="4572000"/>
            <a:ext cx="1234440" cy="347472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SQLite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4572000"/>
            <a:ext cx="1234440" cy="347472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HTML5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89520" y="4572000"/>
            <a:ext cx="1234440" cy="347472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CSS3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052560" y="4572000"/>
            <a:ext cx="1234440" cy="347472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608576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JavaScript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01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Agenda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What we will cover today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01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Introduction &amp; Problem Statement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404872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02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5694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Objectives of the Project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3300984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381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03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34655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Technology Stack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4197096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342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04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43616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System Architecture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5093208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05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Database Design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06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0" y="167335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Key Features — Public Website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09360" y="2404872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542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07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49440" y="25694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Key Features — Admin Panel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09360" y="3300984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4381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08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49440" y="34655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Testing &amp; Results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309360" y="4197096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3342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09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49440" y="43616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Future Scope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309360" y="5093208"/>
            <a:ext cx="5669280" cy="713232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84C"/>
                </a:solidFill>
                <a:latin typeface="Calibri" panose="020F0502020204030204"/>
              </a:rPr>
              <a:t>10</a:t>
            </a:r>
            <a:endParaRPr sz="18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49440" y="5257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Conclusion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10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Introduction &amp; Problem Statement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Why this project was needed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A84C"/>
                </a:solidFill>
                <a:latin typeface="Calibri" panose="020F0502020204030204"/>
              </a:rPr>
              <a:t>The Challenge</a:t>
            </a:r>
            <a:endParaRPr sz="17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486400" cy="530352"/>
          </a:xfrm>
          <a:prstGeom prst="rect">
            <a:avLst/>
          </a:prstGeom>
          <a:solidFill>
            <a:srgbClr val="11111A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✗  No centralised professional online presence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532887"/>
            <a:ext cx="5486400" cy="530352"/>
          </a:xfrm>
          <a:prstGeom prst="rect">
            <a:avLst/>
          </a:prstGeom>
          <a:solidFill>
            <a:srgbClr val="11111A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2432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✗  Booking managed via WhatsApp / email — error prone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3191256"/>
            <a:ext cx="5486400" cy="530352"/>
          </a:xfrm>
          <a:prstGeom prst="rect">
            <a:avLst/>
          </a:prstGeom>
          <a:solidFill>
            <a:srgbClr val="11111A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826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✗  Prices &amp; services cannot be updated without a developer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3849624"/>
            <a:ext cx="5486400" cy="530352"/>
          </a:xfrm>
          <a:prstGeom prst="rect">
            <a:avLst/>
          </a:prstGeom>
          <a:solidFill>
            <a:srgbClr val="11111A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410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✗  Client enquiries scattered across multiple platforms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4507992"/>
            <a:ext cx="5486400" cy="530352"/>
          </a:xfrm>
          <a:prstGeom prst="rect">
            <a:avLst/>
          </a:prstGeom>
          <a:solidFill>
            <a:srgbClr val="11111A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994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✗  No business analytics or booking status tracking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5166359"/>
            <a:ext cx="5486400" cy="530352"/>
          </a:xfrm>
          <a:prstGeom prst="rect">
            <a:avLst/>
          </a:prstGeom>
          <a:solidFill>
            <a:srgbClr val="11111A"/>
          </a:solidFill>
          <a:ln w="889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577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✗  Client data stored on third-party servers (privacy risk)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A84C"/>
                </a:solidFill>
                <a:latin typeface="Calibri" panose="020F0502020204030204"/>
              </a:rPr>
              <a:t>Our Solution</a:t>
            </a:r>
            <a:endParaRPr sz="17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1874519"/>
            <a:ext cx="5486400" cy="480060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libri" panose="020F0502020204030204"/>
              </a:rPr>
              <a:t>Lens &amp; Light Studio is a complete,
self-hosted, full-stack web application
that gives photographers:
✔  A professional portfolio website
✔  An online booking system
✔  A contact &amp; inquiry manager
✔  A secure admin dashboard
✔  Full content management (CRUD)
✔  Zero recurring SaaS fees</a:t>
            </a:r>
            <a:endParaRPr sz="1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03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Objectives of the Project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🎯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Full-Stack Web App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2377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Using Flask, SQLAlchemy, SQLite, HTML5, CSS3, JS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72968" y="141732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🖼️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64408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Dynamic Gallery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64408" y="2377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Filterable masonry grid with lightbox viewer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17336" y="141732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📅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08776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Online Booking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08776" y="2377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Multi-field booking form saved to database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61704" y="141732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7544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🔐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53144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Secure Admin Panel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53144" y="2377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bcrypt authentication &amp; session management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" y="384048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95020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📩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040" y="4434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Contact Management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040" y="4800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Inquiry capture, read tracking &amp; management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172968" y="384048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8" y="395020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📱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64408" y="4434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Responsive Design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64408" y="4800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Works on all screens from 320px to 1920px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117336" y="384048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23176" y="395020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⚙️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08776" y="4434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Full CRUD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8776" y="4800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Gallery, Services, Bookings, Testimonials, Inquiries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061704" y="3840480"/>
            <a:ext cx="2743200" cy="21488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67544" y="395020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🚀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53144" y="4434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Extensible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53144" y="4800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Architecture ready for payments, email, calendar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04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Technology Stack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Tools and frameworks used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5166360"/>
          </a:xfrm>
          <a:prstGeom prst="rect">
            <a:avLst/>
          </a:prstGeom>
          <a:solidFill>
            <a:srgbClr val="11111A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FRONTEND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2" y="187451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HTML5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1343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Semantic structure, SEO-friendly markup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8912" y="2971800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CSS3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4107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Custom design system, glassmorphism, animations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8912" y="406907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42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JavaScript ES6+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5079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IntersectionObserver, Fetch API, Lightbox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8912" y="516635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39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Google Fonts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5605271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Playfair Display (headings) + Inter (body)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51959" y="1371600"/>
            <a:ext cx="3749039" cy="5166360"/>
          </a:xfrm>
          <a:prstGeom prst="rect">
            <a:avLst/>
          </a:prstGeom>
          <a:solidFill>
            <a:srgbClr val="11111A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1371600"/>
            <a:ext cx="3749039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BACKEND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16551" y="187451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Python 3.13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31343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Core programming language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16551" y="2971800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Flask 3.x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79" y="34107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Micro web framework — routing, templating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416551" y="406907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4142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Jinja2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26279" y="45079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Server-side HTML templating engine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416551" y="516635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5239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Werkzeug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26279" y="5605271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File upload security &amp; filename sanitisation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29600" y="1371600"/>
            <a:ext cx="3749039" cy="5166360"/>
          </a:xfrm>
          <a:prstGeom prst="rect">
            <a:avLst/>
          </a:prstGeom>
          <a:solidFill>
            <a:srgbClr val="11111A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1371600"/>
            <a:ext cx="3749039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417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DATABASE &amp; SECURITY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94192" y="187451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1947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SQLite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03920" y="231343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Zero-config embedded relational database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94192" y="2971800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SQLAlchemy ORM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03920" y="341071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Pythonic database abstraction layer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394192" y="406907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4142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Flask-Login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503920" y="45079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Session management &amp; route protection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394192" y="5166359"/>
            <a:ext cx="3401568" cy="987552"/>
          </a:xfrm>
          <a:prstGeom prst="rect">
            <a:avLst/>
          </a:prstGeom>
          <a:solidFill>
            <a:srgbClr val="0A0A0F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5239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bcrypt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03920" y="5605271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Adaptive password hashing algorithm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05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System Architecture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Three-Tier MVC Pattern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1508760"/>
          </a:xfrm>
          <a:prstGeom prst="rect">
            <a:avLst/>
          </a:prstGeom>
          <a:solidFill>
            <a:srgbClr val="11111A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PRESENTATION LAYER  (View)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HTML5 Templates (Jinja2)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CSS3 Design System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Vanilla JavaScript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26151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Google Fonts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07024" y="2871216"/>
            <a:ext cx="36576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77063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9A84C"/>
                </a:solidFill>
                <a:latin typeface="Calibri" panose="020F0502020204030204"/>
              </a:rPr>
              <a:t>▶</a:t>
            </a:r>
            <a:endParaRPr sz="1300" b="0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154680"/>
            <a:ext cx="5486400" cy="1508760"/>
          </a:xfrm>
          <a:prstGeom prst="rect">
            <a:avLst/>
          </a:prstGeom>
          <a:solidFill>
            <a:srgbClr val="11111A"/>
          </a:solidFill>
          <a:ln w="15240">
            <a:solidFill>
              <a:srgbClr val="E8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97A"/>
                </a:solidFill>
                <a:latin typeface="Calibri" panose="020F0502020204030204"/>
              </a:rPr>
              <a:t>APPLICATION LAYER  (Controller)</a:t>
            </a:r>
            <a:endParaRPr sz="13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Flask Blueprints (public + admin)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Route Handlers / Business Logic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1056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Flask-Login Authentication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3525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File Upload Handler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07024" y="4608576"/>
            <a:ext cx="36576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50799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9A84C"/>
                </a:solidFill>
                <a:latin typeface="Calibri" panose="020F0502020204030204"/>
              </a:rPr>
              <a:t>▶</a:t>
            </a:r>
            <a:endParaRPr sz="1300" b="0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4892040"/>
            <a:ext cx="5486400" cy="1508760"/>
          </a:xfrm>
          <a:prstGeom prst="rect">
            <a:avLst/>
          </a:prstGeom>
          <a:solidFill>
            <a:srgbClr val="11111A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834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DATA LAYER  (Model)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53492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SQLAlchemy ORM Models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559612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SQLite Database (6 tables)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58430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bcrypt Password Hashing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" y="60899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•  Data Validation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1417320"/>
            <a:ext cx="5486400" cy="521208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 panose="020F0502020204030204"/>
              </a:rPr>
              <a:t>Request / Response Flow</a:t>
            </a:r>
            <a:endParaRPr sz="14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37960" y="1965960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993391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67728" y="2011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Client sends HTTP request (e.g. GET /gallery)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537960" y="2532888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560320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67728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Flask Router matches URL to route handler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37960" y="3099815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127247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67728" y="314553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Route handler queries database via SQLAlchemy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537960" y="3666744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694176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4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67728" y="371246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SQLAlchemy executes SQL against SQLite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537960" y="4233672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261104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5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67728" y="4279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Data returned to route handler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537960" y="4800600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828032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6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67728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Jinja2 renders HTML template with data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537960" y="5367527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394959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7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67728" y="5413247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Flask sends HTML response to browser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537960" y="5934456"/>
            <a:ext cx="347472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5961888"/>
            <a:ext cx="3474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A0F"/>
                </a:solidFill>
                <a:latin typeface="Calibri" panose="020F0502020204030204"/>
              </a:rPr>
              <a:t>8</a:t>
            </a:r>
            <a:endParaRPr sz="12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67728" y="59801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Browser renders HTML, applies CSS, runs JS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06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Database Design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6 tables — SQLite via SQLAlchemy ORM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49039" cy="256032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49039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721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USERS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837944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74519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id (PK)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167128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20370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username (UNIQUE)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2496312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3288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email (UNIQUE)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040" y="2825496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8620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password_hash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3154680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1912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is_admin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60520" y="1417320"/>
            <a:ext cx="3749039" cy="256032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1417320"/>
            <a:ext cx="3749039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14721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GALLERY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06240" y="1837944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1874519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id (PK)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06240" y="2167128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220370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title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206240" y="2496312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253288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category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06240" y="2825496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28620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filename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206240" y="3154680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5112" y="31912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description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206240" y="3483864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3520439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featured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206240" y="3813048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384962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created_at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046720" y="1417320"/>
            <a:ext cx="3749039" cy="256032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1417320"/>
            <a:ext cx="3749039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147218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SERVICES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092440" y="1837944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1874519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id (PK)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092440" y="2167128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2203703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name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092440" y="2496312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11312" y="2532887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price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092440" y="2825496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2" y="28620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description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092440" y="3154680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11312" y="31912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features_json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092440" y="3483864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1312" y="3520439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popular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92440" y="3813048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384962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duration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74320" y="4160520"/>
            <a:ext cx="3749039" cy="256032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4160520"/>
            <a:ext cx="3749039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4215383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BOOKINGS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20040" y="4581144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461772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id (PK)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0040" y="4910328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494690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name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20040" y="5239512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527608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email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20040" y="5568696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56052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phone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20040" y="5897879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" y="59344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service_id (FK)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320040" y="6227064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" y="626364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event_date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20040" y="6556248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659282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status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160520" y="4160520"/>
            <a:ext cx="3749039" cy="256032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60520" y="4160520"/>
            <a:ext cx="3749039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51959" y="4215383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TESTIMONIALS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4206240" y="4581144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25112" y="461772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id (PK)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206240" y="4910328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25112" y="494690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client_name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206240" y="5239512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5112" y="527608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rating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206240" y="5568696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25112" y="56052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review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206240" y="5897879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25112" y="59344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service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206240" y="6227064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25112" y="626364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avatar_initials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046720" y="4160520"/>
            <a:ext cx="3749039" cy="256032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0" y="4160520"/>
            <a:ext cx="3749039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38160" y="4215383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INQUIRIES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8092440" y="4581144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11312" y="461772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8C97A"/>
                </a:solidFill>
                <a:latin typeface="Calibri" panose="020F0502020204030204"/>
              </a:rPr>
              <a:t>id (PK)</a:t>
            </a:r>
            <a:endParaRPr sz="1050" b="0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092440" y="4910328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11312" y="494690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name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092440" y="5239512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11312" y="527608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email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092440" y="5568696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11312" y="56052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subject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092440" y="5897879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11312" y="59344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message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8092440" y="6227064"/>
            <a:ext cx="3657599" cy="310896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11312" y="626364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read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092440" y="6556248"/>
            <a:ext cx="3657599" cy="31089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11312" y="659282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alibri" panose="020F0502020204030204"/>
              </a:rPr>
              <a:t>created_at</a:t>
            </a:r>
            <a:endParaRPr sz="10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BOOKINGS.service_id  →  SERVICES.id  (Many-to-One)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07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Key Features — Public Website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7 pages for prospective clients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5544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🏠  Home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Hero section with animated stats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2404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Featured gallery (6 photos)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28437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Service preview cards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" y="32826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Client testimonials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82112" y="146304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🖼️  Gallery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73552" y="1965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12 real portfolio photos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73552" y="2404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Category filter buttons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73552" y="28437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Masonry grid layout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73552" y="32826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Lightbox full-screen view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81344" y="146304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5544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💼  Services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72783" y="1965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6 pricing packages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72783" y="2404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Most Popular badge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72783" y="28437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Features list per package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3" y="32826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Book Now CTA buttons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80576" y="146304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3" y="15544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📅  Booking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72015" y="1965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Multi-field booking form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72015" y="2404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Visual package selector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72015" y="28437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Event date &amp; type fields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72015" y="32826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Server-side validation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82880" y="406908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4160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📞  Contact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4320" y="45720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Contact info cards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4320" y="5010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Message form with subject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4320" y="54498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Success/error feedback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4320" y="58887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Saved to DB as inquiry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82112" y="406908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160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⭐  Reviews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73552" y="45720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Star-rated testimonials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73552" y="5010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Client avatar initials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73552" y="54498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Service label per review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73552" y="58887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Admin-managed content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81344" y="4069080"/>
            <a:ext cx="2834640" cy="2377440"/>
          </a:xfrm>
          <a:prstGeom prst="rect">
            <a:avLst/>
          </a:prstGeom>
          <a:solidFill>
            <a:srgbClr val="11111A"/>
          </a:solidFill>
          <a:ln w="1143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160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👤  About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72783" y="45720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Photographer biography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72783" y="501091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Professional stats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72783" y="54498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Skills &amp; achievements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2783" y="588873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▸  Brand story section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08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Key Features — Admin Panel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Secure management dashboard for the photographer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49039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721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🔐  Login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bcrypt-secured login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79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Flask-Login sessions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28163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Auto-redirect if logged in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79" y="32644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Logout terminates session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1417320"/>
            <a:ext cx="3749039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41732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4721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📊  Dashboard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8 live stat cards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Total / Pending / Confirmed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28163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Unread inquiry count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89120" y="32644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Recent activity tables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749039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4721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🖼️  Gallery Mgr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66760" y="192024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Upload with category tag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Featured toggle for homepage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60" y="281635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Delete with file cleanup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60" y="32644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Photo preview grid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023360"/>
            <a:ext cx="3749039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2336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40782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📅  Bookings Mgr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1479" y="45262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View all bookings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1479" y="49743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Status: Pending / Confirmed / Cancelled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1479" y="5422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Delete records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479" y="58704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Filter by status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251959" y="4023360"/>
            <a:ext cx="3749039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59" y="402336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0782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💼  Services Mgr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89120" y="45262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Add / Edit / Delete packages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89120" y="49743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Price, duration, features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89120" y="5422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Most Popular badge toggle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9120" y="58704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Real-time on public page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229600" y="4023360"/>
            <a:ext cx="3749039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402336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407822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📩  Inquiries Mgr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66760" y="45262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Read/Unread highlighting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66760" y="49743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Mark Read (AJAX, no reload)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66760" y="5422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Delete messages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66760" y="587044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•  Timestamp tracking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09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UI Design System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Dark Gold Glassmorphism Aesthetic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Colour Palette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94360" cy="502920"/>
          </a:xfrm>
          <a:prstGeom prst="rect">
            <a:avLst/>
          </a:prstGeom>
          <a:solidFill>
            <a:srgbClr val="0A0A0F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5623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#0a0a0f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2084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 panose="020F0502020204030204"/>
              </a:rPr>
              <a:t>Background</a:t>
            </a:r>
            <a:endParaRPr sz="1200" b="1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5760" y="2487168"/>
            <a:ext cx="594360" cy="502920"/>
          </a:xfrm>
          <a:prstGeom prst="rect">
            <a:avLst/>
          </a:prstGeom>
          <a:solidFill>
            <a:srgbClr val="11111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1459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#111118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 panose="020F0502020204030204"/>
              </a:rPr>
              <a:t>Card BG</a:t>
            </a:r>
            <a:endParaRPr sz="1200" b="1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3145536"/>
            <a:ext cx="594360" cy="502920"/>
          </a:xfrm>
          <a:prstGeom prst="rect">
            <a:avLst/>
          </a:prstGeom>
          <a:solidFill>
            <a:srgbClr val="C9A84C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72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#c9a84c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401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 panose="020F0502020204030204"/>
              </a:rPr>
              <a:t>Gold Accent</a:t>
            </a:r>
            <a:endParaRPr sz="1200" b="1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3803904"/>
            <a:ext cx="594360" cy="502920"/>
          </a:xfrm>
          <a:prstGeom prst="rect">
            <a:avLst/>
          </a:prstGeom>
          <a:solidFill>
            <a:srgbClr val="E8C97A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313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#e8c97a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 panose="020F0502020204030204"/>
              </a:rPr>
              <a:t>Gold Light</a:t>
            </a:r>
            <a:endParaRPr sz="1200" b="1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4462272"/>
            <a:ext cx="594360" cy="502920"/>
          </a:xfrm>
          <a:prstGeom prst="rect">
            <a:avLst/>
          </a:prstGeom>
          <a:solidFill>
            <a:srgbClr val="F0EDE8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897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#f0ede8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7183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 panose="020F0502020204030204"/>
              </a:rPr>
              <a:t>Off-White</a:t>
            </a:r>
            <a:endParaRPr sz="1200" b="1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5120640"/>
            <a:ext cx="594360" cy="502920"/>
          </a:xfrm>
          <a:prstGeom prst="rect">
            <a:avLst/>
          </a:prstGeom>
          <a:solidFill>
            <a:srgbClr val="9B9592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148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#9b9592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51560" y="53766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 panose="020F0502020204030204"/>
              </a:rPr>
              <a:t>Muted Grey</a:t>
            </a:r>
            <a:endParaRPr sz="1200" b="1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1752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Typography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17520" y="187451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EDE8"/>
                </a:solidFill>
                <a:latin typeface="Georgia" panose="02040502050405020303"/>
              </a:rPr>
              <a:t>Playfair Display</a:t>
            </a:r>
            <a:endParaRPr sz="2600" b="1">
              <a:solidFill>
                <a:srgbClr val="F0EDE8"/>
              </a:solidFill>
              <a:latin typeface="Georgia" panose="0204050205040502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17520" y="23317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Headings, Logo — Elegant Serif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17520" y="2743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EDE8"/>
                </a:solidFill>
                <a:latin typeface="Calibri" panose="020F0502020204030204"/>
              </a:rPr>
              <a:t>Inter — Body &amp; UI Text</a:t>
            </a:r>
            <a:endParaRPr sz="18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7520" y="31272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Body text, labels, buttons — Clean Sans-Serif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17520" y="3657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Design Features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17520" y="404164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Glassmorphism — backdrop blur + semi-transparent cards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17520" y="44439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CSS Custom Properties for consistent design tokens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17520" y="48463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Scroll Reveal with IntersectionObserver API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17520" y="5248656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Counter animation on homepage statistics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17520" y="565099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Hover lift effect on all interactive cards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17520" y="60533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Hamburger menu for mobile navigation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0" y="1463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Responsive Breakpoints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58000" y="1874519"/>
            <a:ext cx="5120640" cy="82296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19293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Mobile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03920" y="19293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97A"/>
                </a:solidFill>
                <a:latin typeface="Calibri" panose="020F0502020204030204"/>
              </a:rPr>
              <a:t>&lt; 768px</a:t>
            </a:r>
            <a:endParaRPr sz="12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95160" y="22768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Single column, hamburger nav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858000" y="2834639"/>
            <a:ext cx="5120640" cy="82296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288950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Tablet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03920" y="288950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97A"/>
                </a:solidFill>
                <a:latin typeface="Calibri" panose="020F0502020204030204"/>
              </a:rPr>
              <a:t>768–1024px</a:t>
            </a:r>
            <a:endParaRPr sz="12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95160" y="323697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Two columns, medium layout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858000" y="3794760"/>
            <a:ext cx="5120640" cy="82296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3849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Desktop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03920" y="3849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97A"/>
                </a:solidFill>
                <a:latin typeface="Calibri" panose="020F0502020204030204"/>
              </a:rPr>
              <a:t>&gt; 1024px</a:t>
            </a:r>
            <a:endParaRPr sz="1200" b="1">
              <a:solidFill>
                <a:srgbClr val="E8C97A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95160" y="41970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9592"/>
                </a:solidFill>
                <a:latin typeface="Calibri" panose="020F0502020204030204"/>
              </a:rPr>
              <a:t>Full layout, three-col gallery</a:t>
            </a:r>
            <a:endParaRPr sz="11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4800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JavaScript Interactions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0" y="5166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✦  Lightbox gallery viewer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858000" y="5568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✦  Async Mark-as-Read (Fetch API, no reload)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8000" y="5971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✦  Sticky nav glass effect on scroll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58000" y="6373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  ✦  Package card selector for booking form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10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Testing &amp; Results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7 levels of testing — all passed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743200" cy="105156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84C"/>
                </a:solidFill>
                <a:latin typeface="Calibri" panose="020F0502020204030204"/>
              </a:rPr>
              <a:t>57</a:t>
            </a:r>
            <a:endParaRPr sz="36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Total Test Cases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18688" y="1417320"/>
            <a:ext cx="2743200" cy="105156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4813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84C"/>
                </a:solidFill>
                <a:latin typeface="Calibri" panose="020F0502020204030204"/>
              </a:rPr>
              <a:t>100%</a:t>
            </a:r>
            <a:endParaRPr sz="36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18688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Pass Rate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63056" y="1417320"/>
            <a:ext cx="2743200" cy="105156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4813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84C"/>
                </a:solidFill>
                <a:latin typeface="Calibri" panose="020F0502020204030204"/>
              </a:rPr>
              <a:t>4</a:t>
            </a:r>
            <a:endParaRPr sz="36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63056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Browsers Tested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07424" y="1417320"/>
            <a:ext cx="2743200" cy="105156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4813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84C"/>
                </a:solidFill>
                <a:latin typeface="Calibri" panose="020F0502020204030204"/>
              </a:rPr>
              <a:t>8</a:t>
            </a:r>
            <a:endParaRPr sz="36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07424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Screen Sizes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2606040"/>
            <a:ext cx="530352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Testing Level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577840" y="2606040"/>
            <a:ext cx="164592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79" y="267004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Cases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23760" y="2606040"/>
            <a:ext cx="164592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67004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F"/>
                </a:solidFill>
                <a:latin typeface="Calibri" panose="020F0502020204030204"/>
              </a:rPr>
              <a:t>Result</a:t>
            </a:r>
            <a:endParaRPr sz="1300" b="1">
              <a:solidFill>
                <a:srgbClr val="0A0A0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3017520"/>
            <a:ext cx="53035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099815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Unit Testing — Public Routes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77840" y="3017520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9" y="309981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12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60" y="3017520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09981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74320" y="3447287"/>
            <a:ext cx="53035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529583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Unit Testing — Admin Routes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577840" y="3447287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79" y="352958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19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223760" y="3447287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352958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" y="3877056"/>
            <a:ext cx="53035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959352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Integration Testing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577840" y="3877056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79" y="39593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10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23760" y="3877056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9593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74320" y="4306824"/>
            <a:ext cx="53035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389120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System Testing (E2E)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577840" y="4306824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79" y="4389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10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23760" y="4306824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389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74320" y="4736592"/>
            <a:ext cx="53035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818888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User Acceptance Testing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577840" y="4736592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79" y="48188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6 criteria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23760" y="4736592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48188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74320" y="5166359"/>
            <a:ext cx="53035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5248655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Browser Compatibility (4 browsers)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577840" y="5166359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79" y="524865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10 features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223760" y="5166359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0" y="524865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74320" y="5596127"/>
            <a:ext cx="53035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5678423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Responsive Design (8 sizes)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577840" y="5596127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79" y="56784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All breakpoints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223760" y="5596127"/>
            <a:ext cx="1645920" cy="393192"/>
          </a:xfrm>
          <a:prstGeom prst="rect">
            <a:avLst/>
          </a:prstGeom>
          <a:solidFill>
            <a:srgbClr val="1111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0" y="567842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74320" y="6025896"/>
            <a:ext cx="53035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6108192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Security Testing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577840" y="6025896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79" y="610819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EDE8"/>
                </a:solidFill>
                <a:latin typeface="Calibri" panose="020F0502020204030204"/>
              </a:rPr>
              <a:t>8 tests</a:t>
            </a:r>
            <a:endParaRPr sz="12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223760" y="6025896"/>
            <a:ext cx="1645920" cy="393192"/>
          </a:xfrm>
          <a:prstGeom prst="rect">
            <a:avLst/>
          </a:prstGeom>
          <a:solidFill>
            <a:srgbClr val="0A0A0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0" y="610819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  <a:latin typeface="Calibri" panose="020F0502020204030204"/>
              </a:rPr>
              <a:t>✔ PASS</a:t>
            </a:r>
            <a:endParaRPr sz="1200" b="0">
              <a:solidFill>
                <a:srgbClr val="4CAF50"/>
              </a:solidFill>
              <a:latin typeface="Calibri" panose="020F0502020204030204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052560" y="2606040"/>
            <a:ext cx="2834640" cy="406908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0" y="26974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84C"/>
                </a:solidFill>
                <a:latin typeface="Calibri" panose="020F0502020204030204"/>
              </a:rPr>
              <a:t>🔐  Security</a:t>
            </a:r>
            <a:endParaRPr sz="13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144000" y="3108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bcrypt password hashing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144000" y="35478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@login_required on all admin routes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144000" y="398678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File extension whitelist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144000" y="44256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Secure filename sanitisation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144000" y="486460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16 MB upload size limit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44000" y="5303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Parameterised SQL queries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144000" y="57424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EDE8"/>
                </a:solidFill>
                <a:latin typeface="Calibri" panose="020F0502020204030204"/>
              </a:rPr>
              <a:t>  ✔  HMAC-signed session cookies</a:t>
            </a:r>
            <a:endParaRPr sz="11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11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Future Scope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Planned enhancements and extensions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" y="14173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💳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20391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Payment Integration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25328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Stripe / Razorpay deposit at booking time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0320" y="14173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📧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51760" y="20391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Email Notifications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51760" y="25328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Auto-confirm emails via Flask-Mail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37760" y="14173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📆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20391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Availability Calendar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0" y="25328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Prevent double-bookings, Google Calendar sync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15200" y="14173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👤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06640" y="20391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Client Portal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25328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Login to view booking status &amp; photo gallery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92640" y="14173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15270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📝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84080" y="20391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Blog / SEO Content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784080" y="25328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Improve organic search rankings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" y="39319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41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📊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" y="45537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Advanced Analytics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4320" y="50474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Revenue tracking, seasonal trends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60320" y="39319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041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📱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51760" y="45537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Mobile App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51760" y="50474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React Native companion for on-the-go management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37760" y="39319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4041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☁️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0" y="45537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Cloud Storage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0" y="50474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AWS S3 / Cloudinary for unlimited photo storage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15200" y="39319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041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🌐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06640" y="45537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PWA Support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06640" y="50474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Offline gallery, Add-to-Home-Screen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692640" y="3931920"/>
            <a:ext cx="2240280" cy="2286000"/>
          </a:xfrm>
          <a:prstGeom prst="rect">
            <a:avLst/>
          </a:prstGeom>
          <a:solidFill>
            <a:srgbClr val="1111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9880" y="404164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EDE8"/>
                </a:solidFill>
                <a:latin typeface="Calibri" panose="020F0502020204030204"/>
              </a:rPr>
              <a:t>👥</a:t>
            </a:r>
            <a:endParaRPr sz="24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84080" y="45537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Multi-Photographer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84080" y="5047488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B9592"/>
                </a:solidFill>
                <a:latin typeface="Calibri" panose="020F0502020204030204"/>
              </a:rPr>
              <a:t>Studio with multiple photographer profiles</a:t>
            </a:r>
            <a:endParaRPr sz="105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12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Lens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43000" y="5486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84C"/>
                </a:solidFill>
                <a:latin typeface="Calibri" panose="020F0502020204030204"/>
              </a:rPr>
              <a:t>&amp;</a:t>
            </a:r>
            <a:endParaRPr sz="20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89888" y="5486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DE8"/>
                </a:solidFill>
                <a:latin typeface="Calibri Light" panose="020F0302020204030204"/>
              </a:rPr>
              <a:t>Light</a:t>
            </a:r>
            <a:endParaRPr sz="2000" b="1">
              <a:solidFill>
                <a:srgbClr val="F0EDE8"/>
              </a:solidFill>
              <a:latin typeface="Calibri Light" panose="020F03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C97A"/>
                </a:solidFill>
                <a:latin typeface="Calibri Light" panose="020F0302020204030204"/>
              </a:rPr>
              <a:t>Conclusion</a:t>
            </a:r>
            <a:endParaRPr sz="30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What was achieved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77840" cy="516636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All 10 Objectives Achieved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Full-stack Flask + SQLAlchemy + SQLite app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7 public pages with premium dark-gold UI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12 gallery photos across 6 categories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3101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Filterable masonry gallery + lightbox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Online booking system — saved to database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2245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Contact inquiry management system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6817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Secure bcrypt admin panel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1389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Full CRUD for all 5 content types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5961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Fully responsive — 320px to 1920px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605332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EDE8"/>
                </a:solidFill>
                <a:latin typeface="Calibri" panose="020F0502020204030204"/>
              </a:rPr>
              <a:t>  ✔  57 test cases — 100% pass rate</a:t>
            </a:r>
            <a:endParaRPr sz="12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5760720" cy="237744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Key Learnings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640" y="1938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Flask blueprint architecture &amp; App Factory pattern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22494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SQLAlchemy ORM — models, relationships, queries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364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bcrypt security &amp; session-based authentication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CSS glassmorphism, Custom Properties, animations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31821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JavaScript Fetch API &amp; IntersectionObserver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63640" y="3493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EDE8"/>
                </a:solidFill>
                <a:latin typeface="Calibri" panose="020F0502020204030204"/>
              </a:rPr>
              <a:t>  ▸  Full software engineering lifecycle (SDLC)</a:t>
            </a:r>
            <a:endParaRPr sz="115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26480" y="3931920"/>
            <a:ext cx="5760720" cy="2651760"/>
          </a:xfrm>
          <a:prstGeom prst="rect">
            <a:avLst/>
          </a:prstGeom>
          <a:solidFill>
            <a:srgbClr val="11111A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041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Calibri" panose="020F0502020204030204"/>
              </a:rPr>
              <a:t>Cost Comparison</a:t>
            </a:r>
            <a:endParaRPr sz="15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Pixieset (SaaS)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183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₹2,000–₹8,500/month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4956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Squarespace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18320" y="4956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₹1,500–₹3,400/month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63640" y="54315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Custom Dev (agency)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18320" y="54315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B9592"/>
                </a:solidFill>
                <a:latin typeface="Calibri" panose="020F0502020204030204"/>
              </a:rPr>
              <a:t>₹50,000–₹2,00,000 one-time</a:t>
            </a:r>
            <a:endParaRPr sz="12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63640" y="59070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This Project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18320" y="59070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9A84C"/>
                </a:solidFill>
                <a:latin typeface="Calibri" panose="020F0502020204030204"/>
              </a:rPr>
              <a:t>₹400–₹800/month (hosting only)</a:t>
            </a:r>
            <a:endParaRPr sz="12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79576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B9592"/>
                </a:solidFill>
                <a:latin typeface="Calibri" panose="020F0502020204030204"/>
              </a:rPr>
              <a:t>13</a:t>
            </a:r>
            <a:endParaRPr sz="9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914400"/>
            <a:ext cx="8531352" cy="5120640"/>
          </a:xfrm>
          <a:prstGeom prst="rect">
            <a:avLst/>
          </a:prstGeom>
          <a:solidFill>
            <a:srgbClr val="11111A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0" y="10972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C9A84C"/>
                </a:solidFill>
                <a:latin typeface="Calibri" panose="020F0502020204030204"/>
              </a:rPr>
              <a:t>📸</a:t>
            </a:r>
            <a:endParaRPr sz="4800" b="0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8C97A"/>
                </a:solidFill>
                <a:latin typeface="Calibri Light" panose="020F0302020204030204"/>
              </a:rPr>
              <a:t>Thank You</a:t>
            </a:r>
            <a:endParaRPr sz="5200" b="1">
              <a:solidFill>
                <a:srgbClr val="E8C97A"/>
              </a:solidFill>
              <a:latin typeface="Calibri Light" panose="020F03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0" y="2788920"/>
            <a:ext cx="304495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907792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EDE8"/>
                </a:solidFill>
                <a:latin typeface="Calibri" panose="020F0502020204030204"/>
              </a:rPr>
              <a:t>Lens &amp; Light Studio</a:t>
            </a:r>
            <a:endParaRPr sz="2000" b="0">
              <a:solidFill>
                <a:srgbClr val="F0EDE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Full-Stack Photography Business Web Application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531352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Submitted by: Rohit </a:t>
            </a:r>
            <a:r>
              <a:rPr lang="en-US" sz="1400" b="0">
                <a:solidFill>
                  <a:srgbClr val="9B9592"/>
                </a:solidFill>
                <a:latin typeface="Calibri" panose="020F0502020204030204"/>
              </a:rPr>
              <a:t>Kumar</a:t>
            </a:r>
            <a:endParaRPr lang="en-US" sz="1400" b="0">
              <a:solidFill>
                <a:srgbClr val="9B9592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624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5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Python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340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5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Flask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056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5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SQLAlchemy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772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5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SQLite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488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5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HTML5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04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CSS3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592055" y="4572000"/>
            <a:ext cx="1234440" cy="384048"/>
          </a:xfrm>
          <a:prstGeom prst="rect">
            <a:avLst/>
          </a:prstGeom>
          <a:solidFill>
            <a:srgbClr val="0A0A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4617720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84C"/>
                </a:solidFill>
                <a:latin typeface="Calibri" panose="020F0502020204030204"/>
              </a:rPr>
              <a:t>JS</a:t>
            </a:r>
            <a:endParaRPr sz="1100" b="1">
              <a:solidFill>
                <a:srgbClr val="C9A84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28800" y="52120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B9592"/>
                </a:solidFill>
                <a:latin typeface="Calibri" panose="020F0502020204030204"/>
              </a:rPr>
              <a:t>Questions &amp; Discussion Welcome</a:t>
            </a:r>
            <a:endParaRPr sz="1400" b="0">
              <a:solidFill>
                <a:srgbClr val="9B959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8731</Words>
  <Application>WPS Presentation</Application>
  <PresentationFormat>On-screen Show (4:3)</PresentationFormat>
  <Paragraphs>924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Calibri Light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Rohit Mahar</cp:lastModifiedBy>
  <cp:revision>2</cp:revision>
  <dcterms:created xsi:type="dcterms:W3CDTF">2013-01-27T09:14:00Z</dcterms:created>
  <dcterms:modified xsi:type="dcterms:W3CDTF">2026-06-09T20:58:23Z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671A945E1C014F2EAEFE3066609E2332_12</vt:lpwstr>
  </property>
  <property fmtid="{D5CDD505-2E9C-101B-9397-08002B2CF9AE}" pid="3" name="KSOProductBuildVer">
    <vt:lpwstr>2057-12.2.0.23202</vt:lpwstr>
  </property>
</Properties>
</file>